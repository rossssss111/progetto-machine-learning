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3edf345a1_2_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3edf345a1_2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3edf345a1_2_1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3edf345a1_2_1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edf345a1_2_1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3edf345a1_2_1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410de5da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b410de5da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3edf345a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3edf345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3edf345a1_2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3edf345a1_2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3edf345a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3edf345a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3edf345a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3edf345a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3edf345a1_2_1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3edf345a1_2_1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3edf345a1_2_1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3edf345a1_2_1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it" sz="37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 progetto Machine learning</a:t>
            </a:r>
            <a:endParaRPr sz="3755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it" sz="2533"/>
              <a:t>Water Potability</a:t>
            </a:r>
            <a:endParaRPr sz="2533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</a:rPr>
              <a:t>Rosario Saggese 0512119353                                           Gianmarco </a:t>
            </a:r>
            <a:r>
              <a:rPr lang="it">
                <a:solidFill>
                  <a:schemeClr val="dk2"/>
                </a:solidFill>
              </a:rPr>
              <a:t>Amatruda </a:t>
            </a:r>
            <a:r>
              <a:rPr lang="it">
                <a:solidFill>
                  <a:schemeClr val="dk2"/>
                </a:solidFill>
              </a:rPr>
              <a:t>0512119138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7650" y="563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Descrizione dello scenario e del problema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 garanzia dell'accesso all'acqua potabile è una priorità sanitaria globale. Questo progetto si propone di automatizzare la valutazione della qualità dell'acqua analizzando parametri chimico-fisici standard. Il problema è configurato come un task di Classificazione Binaria Supervisionata: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Variabile Potability (1 = Potabile/Sicura, 0 = Non Potabile/Non Sicura).</a:t>
            </a:r>
            <a:endParaRPr sz="11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Obiettivo: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Addestrare un modello predittivo capace di discriminare tra le due classi, minimizzando in particolare i Falsi Positivi, che rappresentano il rischio sanitario maggiore.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563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Dataset e le caratteristiche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441200"/>
            <a:ext cx="7688700" cy="3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dataset utilizzato è il Water Potability Dataset, composto da 3276 campioni d’acqua. Ogni campione è descritto da 9 variabili continue e 1 variabile target binaria.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variabili analizzate riflettono parametri chimico-fisici fondamentali, tra cui: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Misura dell'acidità o basicità dell'acqua (scala 0-14).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Hardness (Durezza):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Concentrazione di sali di calcio e magnesio (mg/L).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Solids (Residuo Fisso):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Quantità totale di solidi disciolti (ppm).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Sulfate (Solfati):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Concentrazione di solfati disciolti.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Dall'analisi statistica descrittiva (</a:t>
            </a:r>
            <a:r>
              <a:rPr lang="it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df.describe()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 emergono due criticità principali che richiedono interventi di pre-processing: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Eterogeneità delle scale: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 variabili presentano ordini di grandezza molto distanti tra loro.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Presenza di outlier: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Sono stati rilevati valori estremi, tipici delle misurazioni chimiche ambientali, che potrebbero influenzare la stabilità dei modelli predittivi.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726" r="1157" t="0"/>
          <a:stretch/>
        </p:blipFill>
        <p:spPr>
          <a:xfrm>
            <a:off x="809837" y="1121800"/>
            <a:ext cx="7524325" cy="144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 rotWithShape="1">
          <a:blip r:embed="rId4">
            <a:alphaModFix/>
          </a:blip>
          <a:srcRect b="0" l="618" r="1197" t="0"/>
          <a:stretch/>
        </p:blipFill>
        <p:spPr>
          <a:xfrm>
            <a:off x="823388" y="2925751"/>
            <a:ext cx="7497226" cy="19638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603725" y="694000"/>
            <a:ext cx="804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</a:rPr>
              <a:t>Le prime 5 righe del dataset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603725" y="2571750"/>
            <a:ext cx="8040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</a:rPr>
              <a:t>Caratteristiche del dataset utilizzato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240550" y="1441200"/>
            <a:ext cx="4944300" cy="28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L'esame del grado di interdipendenza tra i parametri chimici è stato condotto attraverso lo studio della matrice di correlazione. Dall'analisi dei coefficienti sono emersi i seguenti punti chiave: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Assenza di legami lineari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Tutti i parametri mostrano una correlazione vicina allo zero con la variabile Potability.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Indipendenza delle variabili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Non esistono forti relazioni tra i singoli parametri chimici; ogni variabile apporta un contributo unico.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Complessità del dataset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 mancanza di pattern evidenti indica che la potabilità non dipende da un singolo fattore, ma da interazioni complesse.</a:t>
            </a:r>
            <a:b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731464" y="564775"/>
            <a:ext cx="6979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Analisi delle Correlazioni Lineari</a:t>
            </a:r>
            <a:endParaRPr sz="1000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050" y="1255975"/>
            <a:ext cx="3898550" cy="315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240550" y="1441200"/>
            <a:ext cx="4700100" cy="28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L'analisi esplorativa ha rilevato una significativa presenza di valori nulli nelle feature pH, Sulfate e Trihalomethanes.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fase di pre-processing, si è valutata l'opportunità di rimuovere le istanze incomplete; tuttavia, tale approccio è stato scartato poiché avrebbe comportato una perdita di informazioni eccessiva, riducendo drasticamente la rappresentatività del dataset. Si è pertanto optato per una strategia di imputazione statistica, sostituendo i valori mancanti con la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mediana della distribuzione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scelta della mediana rispetto alla media aritmetica è motivata dalla necessità di una misura di tendenza centrale robusta. A differenza della media, infatti, la mediana non viene influenzata dagli outlier (valori anomali) presenti nei rilievi chimici, garantendo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imputazione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dei dati mancanti più coerente con la distribuzione reale del dataset.</a:t>
            </a:r>
            <a:endParaRPr sz="11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4850" y="1540400"/>
            <a:ext cx="4098000" cy="31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8"/>
          <p:cNvSpPr txBox="1"/>
          <p:nvPr/>
        </p:nvSpPr>
        <p:spPr>
          <a:xfrm>
            <a:off x="731464" y="564775"/>
            <a:ext cx="697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Issue analizzate e soluzioni proposte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Gestione dei Missing Values 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7650" y="1257475"/>
            <a:ext cx="8185800" cy="34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L'analisi della variabile target </a:t>
            </a:r>
            <a:r>
              <a:rPr lang="it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Potability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 rivelato una distribuzione non perfettamente bilanciata: il numero di campioni classificati come "Non Potabile" (0) è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superiore a quelli classificati come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"Potabile" (1).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ridurre questo sbilanciamento, è stata adottata la strategia dello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Stratified Train-Test Split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Questa è stata implementata impostando il parametro </a:t>
            </a:r>
            <a:r>
              <a:rPr lang="it" sz="11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rPr>
              <a:t>stratify=y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all'interno della funzione </a:t>
            </a:r>
            <a:r>
              <a:rPr lang="it" sz="1100">
                <a:solidFill>
                  <a:srgbClr val="1F1F1F"/>
                </a:solidFill>
                <a:latin typeface="Roboto Mono"/>
                <a:ea typeface="Roboto Mono"/>
                <a:cs typeface="Roboto Mono"/>
                <a:sym typeface="Roboto Mono"/>
              </a:rPr>
              <a:t>train_test_split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stratificazione garantisce che la proporzione originale tra le classi venga mantenuta rigorosamente identica sia nel Training Set che nel Test Set. Questo passaggio è fondamentale per due ragioni: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Generalizzazione: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Impedisce al modello di addestrarsi su una distribuzione di dati diversa da quella su cui verrà testato.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Affidabilità della Valutazione: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Evita che le metriche di performance come l'Accuracy risultino falsate da un Test Set non rappresentativo della realtà del dataset.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  <p:sp>
        <p:nvSpPr>
          <p:cNvPr id="127" name="Google Shape;127;p19"/>
          <p:cNvSpPr txBox="1"/>
          <p:nvPr/>
        </p:nvSpPr>
        <p:spPr>
          <a:xfrm>
            <a:off x="731464" y="564775"/>
            <a:ext cx="6979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3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Issue analizzate e soluzioni proposte</a:t>
            </a:r>
            <a:endParaRPr b="1" sz="23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Sbilanciamento delle classi</a:t>
            </a:r>
            <a:endParaRPr sz="1000"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0650" y="1205750"/>
            <a:ext cx="2313900" cy="153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55"/>
              <a:t>Random Forest Classifier</a:t>
            </a:r>
            <a:endParaRPr sz="1155"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1270800"/>
            <a:ext cx="7764900" cy="3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la fase di modellazione predittiva è stato selezionato il </a:t>
            </a: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 Forest Classifier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Random Forest è un algoritmo di Ensemble Learning basato sulla tecnica del bagging. La scelta è ricaduta su questo modello per tre ragioni fondamentali: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Gestione della Non-Linearità: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È estremamente efficace nel catturare le relazioni complesse e non lineari tra i parametri chimico-fisici che modelli lineari più semplici potrebbero ignorare.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Robustezza statistica: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Grazie alla sua natura di "foresta" di alberi decisionali, il modello riduce sensibilmente il rischio di overfitting e gestisce con successo la presenza di outlier rilevati nel dataset.</a:t>
            </a:r>
            <a:endParaRPr sz="113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83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8"/>
              <a:buFont typeface="Arial"/>
              <a:buChar char="●"/>
            </a:pPr>
            <a:r>
              <a:rPr b="1"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Agilità nel Pre-processing:</a:t>
            </a:r>
            <a:r>
              <a:rPr lang="it" sz="11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differenza di algoritmi basati sulla distanza, il Random Forest non richiede necessariamente una normalizzazione o uno scaling aggressivo delle feature, preservando l'interpretabilità dei dati originali.</a:t>
            </a:r>
            <a:endParaRPr sz="62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37">
                <a:solidFill>
                  <a:srgbClr val="000000"/>
                </a:solidFill>
              </a:rPr>
              <a:t>Valutazione delle Performance</a:t>
            </a:r>
            <a:endParaRPr sz="1155"/>
          </a:p>
        </p:txBody>
      </p:sp>
      <p:pic>
        <p:nvPicPr>
          <p:cNvPr id="140" name="Google Shape;140;p21"/>
          <p:cNvPicPr preferRelativeResize="0"/>
          <p:nvPr/>
        </p:nvPicPr>
        <p:blipFill rotWithShape="1">
          <a:blip r:embed="rId3">
            <a:alphaModFix/>
          </a:blip>
          <a:srcRect b="29829" l="0" r="26820" t="0"/>
          <a:stretch/>
        </p:blipFill>
        <p:spPr>
          <a:xfrm>
            <a:off x="5563300" y="2344575"/>
            <a:ext cx="3426375" cy="112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1270800"/>
            <a:ext cx="4798500" cy="3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modello ha registrato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Accuracy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globale del 66%, evidenziando un comportamento asimmetrico tra le classi: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0 (Non Potabile):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Ottima capacità di screening con una Recall dello 0.89. Quasi il 90% delle acque contaminate viene identificato correttamente.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1 (Potabile):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Rappresenta la criticità maggiore. A fronte di una Precision dello 0.63, la Recall si ferma allo 0.30, indicando un modello "prudente" che classifica come potabile solo i campioni ad alta confidenza statistica.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Bilanciamento: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L'F1-Score di 0.41 per la classe 1 conferma l'impatto dello sbilanciamento del dataset sulla capacità predittiva della classe minoritaria.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discrepanza nei valori di Recall riflette un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approccio cautelativo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In ambito sanitario, è preferibile un sistema conservativo che segnali come "non sicura" un'acqua potabile piuttosto che il contrario. Questa baseline costituisce una solida base di sicurezza per i futuri sviluppi di ottimizzazione.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47900" y="1441200"/>
            <a:ext cx="5420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Matrice di Confusione fornisce una visione granulare delle prestazioni del classificatore, permettendo di distinguere tra le previsioni corrette e le diverse tipologie di errore commesse sul Test Set. Dall'analisi del grafico emergono i seguenti punti chiave: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Capacità Discriminante (Classe 0):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Il modello mostra una solida precisione nel riconoscere i campioni di acqua Non Potabile. L'elevato numero di True Negatives indica che l'algoritmo ha appreso efficacemente le caratteristiche chimiche che rendono l'acqua non sicura.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dei Falsi Positivi (Errore di Tipo I):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Sono stati rilevati casi in cui il modello ha erroneamente classificato come "Potabile" campioni che in realtà erano contaminati. In un contesto di sanità pubblica, questo rappresenta l'errore più critico: un falso senso di sicurezza che potrebbe portare al consumo di acqua pericolosa.</a:t>
            </a:r>
            <a:endParaRPr sz="45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124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Obiettivo di Ottimizzazione:</a:t>
            </a:r>
            <a:r>
              <a:rPr lang="it" sz="457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 rendere il modello applicabile in scenari reali, le iterazioni future dovranno focalizzarsi sulla massimizzazione della Precision per la classe 1, riducendo progressivamente i Falsi Positivi attraverso una soglia di classificazione più conservativa o un addestramento specifico sulle feature di tossicità.</a:t>
            </a:r>
            <a:endParaRPr sz="789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5555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Analisi delle prestazioni e del modello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55"/>
              <a:t>Analisi della matrice di confusione</a:t>
            </a:r>
            <a:endParaRPr sz="1155"/>
          </a:p>
        </p:txBody>
      </p:sp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8813" y="1809650"/>
            <a:ext cx="3236126" cy="26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727646" y="609771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Considerazioni finali e sviluppi futuri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727650" y="1441200"/>
            <a:ext cx="7688700" cy="3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progetto ha dimostrato l'efficacia delle tecniche di 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nel dominio del monitoraggio ambientale, riuscendo a modellare la qualità dell'acqua con un'accuratezza soddisfacente nonostante l'intrinseca complessità dei processi chimici analizzati. L'approccio metodologico adottato, in particolare l'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imputazione tramite mediana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si è confermato una strategia solida per preservare l'integrità informativa del dataset senza introdurre distorsioni significative causate dagli outlier.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Sebbene la baseline ottenuta sia promettente, il modello presenta margini di miglioramento, specialmente nella capacità predittiva verso la classe minoritaria. Per le iterazioni future, si propongono i seguenti sviluppi: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Tecniche di Oversampling (SMOTE):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bilanciare artificialmente la classe minoritaria nel training set e migliorare la Recall.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Fine-tuning degli Iperparametri</a:t>
            </a: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L’utilizzo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 una GridSearchCV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RandomizedSearchCV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 ottimizzare la profondità degli alberi nel Random Forest e ridurre l'eventuale overfitting.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Arricchimento del Dataset: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Creazione di nuove variabili combinate ad esempio rapporto pH/Solfati per evidenziare pattern nascosti.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